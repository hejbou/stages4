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66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206240" cy="42062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4" name="Image 0" descr="/home/claude/pptx_chatia/media/logo_sup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029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SUPÉRIEUR DU NUMÉRIQUE (SUPNUM)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1488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d'Appel Intelligent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Basé sur l'IA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— Assistant intelligent de réservation de trajets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12700">
            <a:solidFill>
              <a:srgbClr val="3A45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572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d'accueil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SIGMATECH TRAINING
</a:t>
            </a:r>
            <a:r>
              <a:rPr lang="en-US" sz="1300" b="1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Debagh
</a:t>
            </a:r>
            <a:r>
              <a:rPr lang="en-US" sz="1300" b="1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Hejbou Cherghy (24162), Hassen Mini Nouhe (24155)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81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91640" y="1618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20756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objectifs et organisation du rapport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581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52360" y="16184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du projet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360" y="20756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général, existant, problématique et solution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36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691640" y="3172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et Conception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6301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Acteurs, scénarios d'utilisation et modèle de données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9718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1363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52360" y="3172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 et technologies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363016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Technologies, outils et architecture logicielle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690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691640" y="4727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 de l'application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1846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développées, côté client et administrateur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5262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690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FE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452360" y="4727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2360" y="518464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résultats obtenus et perspectives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général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d'un centre d'appel intelligent nommé ChatIA, capable d'automatiser les réservations et annulations de trajets pour une entreprise de transport, en français, arabe et hassaniya.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du projet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dépendance aux agents humains, offrir une expérience multilingue fluide et permettre à l'entreprise de superviser toute l'activité via un panneau d'administration.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121C3D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103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du rapport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20840" y="26517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78040" y="26334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31089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3090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projet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35661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3547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Conception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40233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40050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44805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480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44622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de l'application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4937760"/>
            <a:ext cx="310896" cy="3108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49194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6400800" cy="64008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projet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0" y="16276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général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25603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l'existant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0" y="333756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31821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411480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39593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général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Appels simultanés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nombreux clients appellent en même temps pour réserver ou annuler un trajet.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756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débordés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423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humains ne suffisent plus aux heures de forte affluence.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1330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d'attente long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4805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attend longtemps et le service devient moins bon.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1605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330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 d'automatisation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capable de parler plusieurs langues devient nécessaire pour améliorer le service.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l'existant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6F2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traditionnelle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459736"/>
            <a:ext cx="128016" cy="128016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313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par téléphone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606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note manuellement le départ, la destination et le tarif.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328416"/>
            <a:ext cx="128016" cy="128016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82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Annulation manuelle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rappelle, l'agent recherche puis annule la réservation.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197096"/>
            <a:ext cx="128016" cy="128016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050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historique centralisé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343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d'historique clair des échanges avec le client.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5065776"/>
            <a:ext cx="128016" cy="128016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la langue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212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dépend de la langue parlée par l'agent disponible.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21C3D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Problèmes identifiés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0" y="250545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d'attente élevé aux heures de pointe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37413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200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suivi en temps réel pour le client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424281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vue globale pour l'entreprise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511149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4937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qui parlent seulement hassaniya sont exclus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automatiser la gestion des appels et des demandes de transport, tout en conservant une interaction naturelle et multilingue avec le client 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Compréhension multilingue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560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une demande libre en français, arabe ou hassaniya.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659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240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2128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fiable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603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automatiquement le départ et la destination dans la phrase.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 du prix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4348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les mêmes prix que le système déjà utilisé.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8404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1148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0873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de l'activité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l'entreprise garder le contrôle, même avec l'automatisation.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proposée — ChatIA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intelligent qui automatise, du début à la fin, la réservation et l'annulation des trajets.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121C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 multilingue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ou voix, en français, arabe et hassaniya.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1488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1E7F7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Compréhension d'intention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65760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Réservation, annulation, suivi ou question.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121C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4652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Réservation automatisée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et distance calculés, confirmation du client.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214884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1E7F73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3544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complète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35440" y="3840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d'administration pour toute l'activité.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6400800" cy="64008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et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0" y="16276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acteurs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25603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d'utilisation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69480" y="31821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des acteurs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99516" y="155448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2700999" y="2176272"/>
            <a:ext cx="1117674" cy="1161288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5" name="Text 3"/>
          <p:cNvSpPr/>
          <p:nvPr/>
        </p:nvSpPr>
        <p:spPr>
          <a:xfrm>
            <a:off x="2802636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endParaRPr lang="en-US" sz="26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99516" y="3337560"/>
            <a:ext cx="5120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95044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95044" y="4059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5044" y="4626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5044" y="5193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68796" y="155448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3163" y="2203704"/>
            <a:ext cx="1127837" cy="1042416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71916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endParaRPr lang="en-US" sz="26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68796" y="333756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Administrateur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64324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64324" y="4059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64324" y="46268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64324" y="5193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1081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d'utilisation — Client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4310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600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 avec son numéro de téléphone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194310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1600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la conversation avec ChatIA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36042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0175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son départ et sa destination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3017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336042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30175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prix, distance et durée, puis confirme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77774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77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434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l'état de sa demande en temps réel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4434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4777740"/>
            <a:ext cx="502920" cy="50292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777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4434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annuler et reçoit des notifications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d'utilisation — Administrateur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43100"/>
            <a:ext cx="502920" cy="50292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600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 à l'espace d'administration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1943100"/>
            <a:ext cx="502920" cy="50292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1600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le tableau de bord (utilisateurs, courses, statuts)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360420"/>
            <a:ext cx="502920" cy="50292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0175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utilisateurs (recherche, activation, suppression)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55080" y="3017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3360420"/>
            <a:ext cx="502920" cy="50292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360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30175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courses et demandes (filtre par statut)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0354" y="4434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777740"/>
            <a:ext cx="502920" cy="50292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77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434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lieux desservis (FR/AR/HA + GPS)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443484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4777740"/>
            <a:ext cx="502920" cy="50292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7777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44348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le comportement de l'IA (messages, personnalité)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6400800" cy="64008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0" y="16276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25603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développement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0" y="333756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31821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3 couches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Outils utilisés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1600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600200"/>
            <a:ext cx="685800" cy="68580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57800" y="1600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Flask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685800" cy="68580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06840" y="1600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685800" cy="68580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108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3108960"/>
            <a:ext cx="685800" cy="685800"/>
          </a:xfrm>
          <a:prstGeom prst="ellipse">
            <a:avLst/>
          </a:prstGeom>
          <a:solidFill>
            <a:srgbClr val="1E7F73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57800" y="3108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108960"/>
            <a:ext cx="685800" cy="685800"/>
          </a:xfrm>
          <a:prstGeom prst="ellipse">
            <a:avLst/>
          </a:prstGeom>
          <a:solidFill>
            <a:srgbClr val="121C3D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3108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OSM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développement :  Visual Studio Code   ·   Git   ·   Postman   ·   MySQL Workbench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 de l'application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E7F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utilisateur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HTML, CSS, JavaScript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2834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Compréhension du langage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9476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règles (actuel)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2834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583680" y="19659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21C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Serveur applicatif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6656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Flask — API REST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98280" y="28346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555480" y="196596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1E7F73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738360" y="27432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73836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relationnelle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message du client passe par ces 4 étapes, du chat jusqu'à la base de données.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6400800" cy="64008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 de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269480" y="162763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client (chat, carte, suivi)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256032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d'administration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 — Interface client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43000"/>
            <a:ext cx="3246120" cy="5120640"/>
          </a:xfrm>
          <a:prstGeom prst="roundRect">
            <a:avLst>
              <a:gd name="adj" fmla="val 1408"/>
            </a:avLst>
          </a:prstGeom>
          <a:solidFill>
            <a:srgbClr val="F7F8FA"/>
          </a:solidFill>
          <a:ln w="12700">
            <a:solidFill>
              <a:srgbClr val="E2E5EC"/>
            </a:solidFill>
            <a:prstDash val="solid"/>
          </a:ln>
        </p:spPr>
      </p:sp>
      <p:pic>
        <p:nvPicPr>
          <p:cNvPr id="4" name="Image 0" descr="/home/claude/pptx_chatia/media/fig02_chat_accue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2880360" cy="3355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47091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conversationnel multilingue avec suggestion automatique de lieux.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434840" y="1143000"/>
            <a:ext cx="3246120" cy="5120640"/>
          </a:xfrm>
          <a:prstGeom prst="roundRect">
            <a:avLst>
              <a:gd name="adj" fmla="val 1408"/>
            </a:avLst>
          </a:prstGeom>
          <a:solidFill>
            <a:srgbClr val="F7F8FA"/>
          </a:solidFill>
          <a:ln w="12700">
            <a:solidFill>
              <a:srgbClr val="E2E5EC"/>
            </a:solidFill>
            <a:prstDash val="solid"/>
          </a:ln>
        </p:spPr>
      </p:sp>
      <p:pic>
        <p:nvPicPr>
          <p:cNvPr id="7" name="Image 1" descr="/home/claude/pptx_chatia/media/fig04_confir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80160"/>
            <a:ext cx="2880360" cy="33741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7720" y="4727448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du trajet : carte, distance, durée et prix avant confirmation.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046720" y="1143000"/>
            <a:ext cx="3246120" cy="5120640"/>
          </a:xfrm>
          <a:prstGeom prst="roundRect">
            <a:avLst>
              <a:gd name="adj" fmla="val 1408"/>
            </a:avLst>
          </a:prstGeom>
          <a:solidFill>
            <a:srgbClr val="F7F8FA"/>
          </a:solidFill>
          <a:ln w="12700">
            <a:solidFill>
              <a:srgbClr val="E2E5EC"/>
            </a:solidFill>
            <a:prstDash val="solid"/>
          </a:ln>
        </p:spPr>
      </p:sp>
      <p:pic>
        <p:nvPicPr>
          <p:cNvPr id="10" name="Image 2" descr="/home/claude/pptx_chatia/media/fig06_suiv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280160"/>
            <a:ext cx="2880360" cy="33924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0" y="47548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: chauffeur assigné et progression de la course.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 — Administration &amp; Carte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79" y="1143000"/>
            <a:ext cx="9223587" cy="5105400"/>
          </a:xfrm>
          <a:prstGeom prst="roundRect">
            <a:avLst>
              <a:gd name="adj" fmla="val 1099"/>
            </a:avLst>
          </a:prstGeom>
          <a:solidFill>
            <a:srgbClr val="F7F8FA"/>
          </a:solidFill>
          <a:ln w="12700">
            <a:solidFill>
              <a:srgbClr val="E2E5EC"/>
            </a:solidFill>
            <a:prstDash val="solid"/>
          </a:ln>
        </p:spPr>
      </p:sp>
      <p:pic>
        <p:nvPicPr>
          <p:cNvPr id="4" name="Image 0" descr="/home/claude/pptx_chatia/media/fig10_admi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798576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2519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utilisateurs, courses totales et répartition par statut.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89520" y="4315968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377440"/>
            <a:ext cx="5486400" cy="54864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atteints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0428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réservation, l'annulation, le suivi et l'administration fonctionnent, du début à la fin.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9385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Multilinguisme réel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30428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français, l'arabe et le hassaniya sont bien pris en charge.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04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complète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27024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client et panneau d'administration entièrement fonctionnels.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1B2A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3931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904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Expérience professionnelle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27024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 concrète des compétences acquises à SUPNUM.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ChatIA  |  Centre d'Appel Intelligent Basé sur l'IA  |  SIGMATECH TRAINING 2025/2026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560320"/>
            <a:ext cx="128016" cy="128016"/>
          </a:xfrm>
          <a:prstGeom prst="ellipse">
            <a:avLst/>
          </a:prstGeom>
          <a:solidFill>
            <a:srgbClr val="6FD8C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395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modèle de langage (LLM) plus tard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128016" cy="128016"/>
          </a:xfrm>
          <a:prstGeom prst="ellipse">
            <a:avLst/>
          </a:prstGeom>
          <a:solidFill>
            <a:srgbClr val="6FD8C7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900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serveur de reconnaissance vocale pour les appels classiques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128016" cy="128016"/>
          </a:xfrm>
          <a:prstGeom prst="ellipse">
            <a:avLst/>
          </a:prstGeom>
          <a:solidFill>
            <a:srgbClr val="6FD8C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844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 et par SMS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343400"/>
            <a:ext cx="128016" cy="128016"/>
          </a:xfrm>
          <a:prstGeom prst="ellipse">
            <a:avLst/>
          </a:prstGeom>
          <a:solidFill>
            <a:srgbClr val="6FD8C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1788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 pour clients et chauffeurs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SIGMATECH TRAINING  ·  Hejbou Cherghy &amp; Hassen Mini Nouhe  ·  SUPNUM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1211</Words>
  <Application>Microsoft Office PowerPoint</Application>
  <PresentationFormat>Widescreen</PresentationFormat>
  <Paragraphs>276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2</cp:revision>
  <dcterms:created xsi:type="dcterms:W3CDTF">2026-07-10T21:25:47Z</dcterms:created>
  <dcterms:modified xsi:type="dcterms:W3CDTF">2026-07-10T21:44:24Z</dcterms:modified>
</cp:coreProperties>
</file>